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Total Loan Applications by Month (K)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2.3</c:v>
                </c:pt>
                <c:pt idx="1">
                  <c:v>2.3</c:v>
                </c:pt>
                <c:pt idx="2">
                  <c:v>2.6</c:v>
                </c:pt>
                <c:pt idx="3">
                  <c:v>2.8</c:v>
                </c:pt>
                <c:pt idx="4">
                  <c:v>2.9</c:v>
                </c:pt>
                <c:pt idx="5">
                  <c:v>3.2</c:v>
                </c:pt>
                <c:pt idx="6">
                  <c:v>3.4</c:v>
                </c:pt>
                <c:pt idx="7">
                  <c:v>3.4</c:v>
                </c:pt>
                <c:pt idx="8">
                  <c:v>3.5</c:v>
                </c:pt>
                <c:pt idx="9">
                  <c:v>3.8</c:v>
                </c:pt>
                <c:pt idx="10">
                  <c:v>4</c:v>
                </c:pt>
                <c:pt idx="11">
                  <c:v>4.3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Applications by Purpose (K)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Purpose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Debt consol.</c:v>
                  </c:pt>
                  <c:pt idx="1">
                    <c:v>Credit card</c:v>
                  </c:pt>
                  <c:pt idx="2">
                    <c:v>Other</c:v>
                  </c:pt>
                  <c:pt idx="3">
                    <c:v>Home impr.</c:v>
                  </c:pt>
                  <c:pt idx="4">
                    <c:v>Major purch.</c:v>
                  </c:pt>
                  <c:pt idx="5">
                    <c:v>Small biz</c:v>
                  </c:pt>
                  <c:pt idx="6">
                    <c:v>Car</c:v>
                  </c:pt>
                  <c:pt idx="7">
                    <c:v>Wedding</c:v>
                  </c:pt>
                  <c:pt idx="8">
                    <c:v>Medical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B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By Loan Term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Term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36 months</c:v>
                </c:pt>
                <c:pt idx="1">
                  <c:v>60 months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73.2</c:v>
                </c:pt>
                <c:pt idx="1">
                  <c:v>26.8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B1B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By Employee Length (K)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 Length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10+ yrs</c:v>
                  </c:pt>
                  <c:pt idx="1">
                    <c:v>&lt;1 yr</c:v>
                  </c:pt>
                  <c:pt idx="2">
                    <c:v>2 yrs</c:v>
                  </c:pt>
                  <c:pt idx="3">
                    <c:v>3 yrs</c:v>
                  </c:pt>
                  <c:pt idx="4">
                    <c:v>4 yrs</c:v>
                  </c:pt>
                  <c:pt idx="5">
                    <c:v>5 yrs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8.9</c:v>
                </c:pt>
                <c:pt idx="1">
                  <c:v>4.6</c:v>
                </c:pt>
                <c:pt idx="2">
                  <c:v>4.4</c:v>
                </c:pt>
                <c:pt idx="3">
                  <c:v>4.1</c:v>
                </c:pt>
                <c:pt idx="4">
                  <c:v>3.4</c:v>
                </c:pt>
                <c:pt idx="5">
                  <c:v>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B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By Home Ownership (K)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Home Ownership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Rent</c:v>
                </c:pt>
                <c:pt idx="1">
                  <c:v>Mortgage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18</c:v>
                </c:pt>
                <c:pt idx="1">
                  <c:v>17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B1B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63680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754880"/>
            <a:ext cx="4572000" cy="4572000"/>
          </a:xfrm>
          <a:prstGeom prst="ellipse">
            <a:avLst/>
          </a:prstGeom>
          <a:solidFill>
            <a:srgbClr val="26368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334593"/>
          </a:solidFill>
          <a:ln/>
        </p:spPr>
      </p:sp>
      <p:pic>
        <p:nvPicPr>
          <p:cNvPr id="5" name="Image 0" descr="icons_FFFFFF_lan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100812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BANK LOAN DATA ANALYSIS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Decision-Making Through Dynamic Power BI Insights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 |  Data Modeling  |  DAX  |  Interactive Dashboards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92240" cy="47548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37360"/>
            <a:ext cx="5760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approach to loan data analysis lacks depth and interactivity, hindering the ability to derive meaningful insights for informed decision-making.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reporting methods fall short in providing a comprehensive view of lending operations, borrower behavior, and loan performance metrics.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pressing need for advanced dashboard design to unlock the full potential of our loan data.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3716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_1E2761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2098" y="15156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21040" y="1371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depth 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reports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98080" y="23317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icons_1E2761_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098" y="2475738"/>
            <a:ext cx="352044" cy="3520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21040" y="2331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dynamic,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views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498080" y="32918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2" descr="icons_1E2761_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098" y="3435858"/>
            <a:ext cx="352044" cy="3520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21040" y="3291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view of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operations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Data Analysis  •  Power BI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a suite of interconnected dashboards that deliver dynamic, comprehensive insights into loan data — empowering decision-makers with actionable intelligence.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606040" cy="3383280"/>
          </a:xfrm>
          <a:prstGeom prst="rect">
            <a:avLst/>
          </a:prstGeom>
          <a:solidFill>
            <a:srgbClr val="26368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697480"/>
            <a:ext cx="685800" cy="685800"/>
          </a:xfrm>
          <a:prstGeom prst="ellipse">
            <a:avLst/>
          </a:prstGeom>
          <a:solidFill>
            <a:srgbClr val="3A4A9A"/>
          </a:solidFill>
          <a:ln/>
        </p:spPr>
      </p:sp>
      <p:pic>
        <p:nvPicPr>
          <p:cNvPr id="6" name="Image 0" descr="icons_FFFFFF_lan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545" y="285178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6118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Lending Operations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42519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view of loan volume, funding, and repayment flow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2468880"/>
            <a:ext cx="2606040" cy="3383280"/>
          </a:xfrm>
          <a:prstGeom prst="rect">
            <a:avLst/>
          </a:prstGeom>
          <a:solidFill>
            <a:srgbClr val="263680"/>
          </a:solidFill>
          <a:ln/>
        </p:spPr>
      </p:sp>
      <p:sp>
        <p:nvSpPr>
          <p:cNvPr id="10" name="Shape 7"/>
          <p:cNvSpPr/>
          <p:nvPr/>
        </p:nvSpPr>
        <p:spPr>
          <a:xfrm>
            <a:off x="3520440" y="2697480"/>
            <a:ext cx="685800" cy="685800"/>
          </a:xfrm>
          <a:prstGeom prst="ellipse">
            <a:avLst/>
          </a:prstGeom>
          <a:solidFill>
            <a:srgbClr val="3A4A9A"/>
          </a:solidFill>
          <a:ln/>
        </p:spPr>
      </p:sp>
      <p:pic>
        <p:nvPicPr>
          <p:cNvPr id="11" name="Image 1" descr="icons_FFFFFF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745" y="285178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6118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Borrower Demographics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20440" y="42519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length, home ownership, and purpose patterns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2468880"/>
            <a:ext cx="2606040" cy="3383280"/>
          </a:xfrm>
          <a:prstGeom prst="rect">
            <a:avLst/>
          </a:prstGeom>
          <a:solidFill>
            <a:srgbClr val="263680"/>
          </a:solidFill>
          <a:ln/>
        </p:spPr>
      </p:sp>
      <p:sp>
        <p:nvSpPr>
          <p:cNvPr id="15" name="Shape 11"/>
          <p:cNvSpPr/>
          <p:nvPr/>
        </p:nvSpPr>
        <p:spPr>
          <a:xfrm>
            <a:off x="6263640" y="2697480"/>
            <a:ext cx="685800" cy="685800"/>
          </a:xfrm>
          <a:prstGeom prst="ellipse">
            <a:avLst/>
          </a:prstGeom>
          <a:solidFill>
            <a:srgbClr val="3A4A9A"/>
          </a:solidFill>
          <a:ln/>
        </p:spPr>
      </p:sp>
      <p:pic>
        <p:nvPicPr>
          <p:cNvPr id="16" name="Image 2" descr="icons_FFFFFF_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945" y="285178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36118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Performance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63640" y="42519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vs. bad loans, status tracking, trend analysis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778240" y="2468880"/>
            <a:ext cx="2606040" cy="3383280"/>
          </a:xfrm>
          <a:prstGeom prst="rect">
            <a:avLst/>
          </a:prstGeom>
          <a:solidFill>
            <a:srgbClr val="263680"/>
          </a:solidFill>
          <a:ln/>
        </p:spPr>
      </p:sp>
      <p:sp>
        <p:nvSpPr>
          <p:cNvPr id="20" name="Shape 15"/>
          <p:cNvSpPr/>
          <p:nvPr/>
        </p:nvSpPr>
        <p:spPr>
          <a:xfrm>
            <a:off x="9006840" y="2697480"/>
            <a:ext cx="685800" cy="685800"/>
          </a:xfrm>
          <a:prstGeom prst="ellipse">
            <a:avLst/>
          </a:prstGeom>
          <a:solidFill>
            <a:srgbClr val="3A4A9A"/>
          </a:solidFill>
          <a:ln/>
        </p:spPr>
      </p:sp>
      <p:pic>
        <p:nvPicPr>
          <p:cNvPr id="21" name="Image 3" descr="icons_FFFFFF_per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145" y="285178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06840" y="36118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Metrics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006840" y="42519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rate, DTI ratio, and funded vs. received amounts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Data Analysis  •  Power BI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1  |  Executive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KPIs for evaluating overall lending efficiency and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121408" cy="1600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2763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_1E2761_in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102" y="1730502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14884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38.6K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260604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61488" y="1463040"/>
            <a:ext cx="2121408" cy="1600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2926080" y="162763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_1E2761_moneybi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173050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98648" y="214884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$435.8M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2898648" y="260604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74336" y="1463040"/>
            <a:ext cx="2121408" cy="1600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5138928" y="162763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icons_1E2761_moneybi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798" y="1730502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11496" y="214884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$473.1M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5111496" y="260604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187184" y="1463040"/>
            <a:ext cx="2121408" cy="1600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7351776" y="162763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icons_1E2761_per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646" y="1730502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24344" y="214884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12.0%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324344" y="260604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400032" y="1463040"/>
            <a:ext cx="2121408" cy="1600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5" name="Shape 19"/>
          <p:cNvSpPr/>
          <p:nvPr/>
        </p:nvSpPr>
        <p:spPr>
          <a:xfrm>
            <a:off x="9564624" y="162763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icons_1E2761_bal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7494" y="1730502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37192" y="214884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13.3%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9537192" y="260604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Ratio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48640" y="3337560"/>
            <a:ext cx="5212080" cy="28803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0" name="Text 23"/>
          <p:cNvSpPr/>
          <p:nvPr/>
        </p:nvSpPr>
        <p:spPr>
          <a:xfrm>
            <a:off x="82296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Loan Issued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868680" y="3931920"/>
            <a:ext cx="1554480" cy="15544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2E8B57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868680" y="393192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86.2%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2606040" y="393192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33.2K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$370.2M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$435.8M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5943600" y="3337560"/>
            <a:ext cx="5212080" cy="28803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5" name="Text 28"/>
          <p:cNvSpPr/>
          <p:nvPr/>
        </p:nvSpPr>
        <p:spPr>
          <a:xfrm>
            <a:off x="621792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Loan Issued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6263640" y="3931920"/>
            <a:ext cx="1554480" cy="15544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C0392B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263640" y="393192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13.8%</a:t>
            </a:r>
            <a:endParaRPr lang="en-US" sz="1800" dirty="0"/>
          </a:p>
        </p:txBody>
      </p:sp>
      <p:sp>
        <p:nvSpPr>
          <p:cNvPr id="38" name="Text 31"/>
          <p:cNvSpPr/>
          <p:nvPr/>
        </p:nvSpPr>
        <p:spPr>
          <a:xfrm>
            <a:off x="8001000" y="393192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5.3K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$65.5M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$37.3M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Data Analysis  •  Power BI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2  | 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breakdown of loan applications across time, geography, and borrower attributes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72200" y="146304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548640" y="3977640"/>
          <a:ext cx="33832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3" descr=""/>
          <p:cNvGraphicFramePr/>
          <p:nvPr/>
        </p:nvGraphicFramePr>
        <p:xfrm>
          <a:off x="4114800" y="3977640"/>
          <a:ext cx="37033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4" descr=""/>
          <p:cNvGraphicFramePr/>
          <p:nvPr/>
        </p:nvGraphicFramePr>
        <p:xfrm>
          <a:off x="8046720" y="3977640"/>
          <a:ext cx="35661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9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Data Analysis  •  Power BI</a:t>
            </a:r>
            <a:endParaRPr lang="en-US" sz="900" dirty="0"/>
          </a:p>
        </p:txBody>
      </p:sp>
      <p:sp>
        <p:nvSpPr>
          <p:cNvPr id="10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3  |  Details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Loan-level granularity — filterable by State, Grade, and Loan Classification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27432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1828800"/>
                <a:gridCol w="1005840"/>
                <a:gridCol w="1371600"/>
                <a:gridCol w="1005840"/>
                <a:gridCol w="1371600"/>
              </a:tblGrid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Ownership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632417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business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$10,430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653921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Renewable energy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Mortgage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$39,846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668166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Mortgage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$53,494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670409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consolidation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$49,122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672549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Mortgage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$52,349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672680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consolidation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$35,479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80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filters seamlessly by State, Grade, and Good vs. Bad Loan classification — supporting drill-down analysis for underwriting review.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5212080"/>
            <a:ext cx="1773936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521208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ID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459736" y="5212080"/>
            <a:ext cx="1773936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2459736" y="521208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70832" y="5212080"/>
            <a:ext cx="3182112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1" name="Text 8"/>
          <p:cNvSpPr/>
          <p:nvPr/>
        </p:nvSpPr>
        <p:spPr>
          <a:xfrm>
            <a:off x="4370832" y="5212080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Ownership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690104" y="5212080"/>
            <a:ext cx="3785616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3" name="Text 10"/>
          <p:cNvSpPr/>
          <p:nvPr/>
        </p:nvSpPr>
        <p:spPr>
          <a:xfrm>
            <a:off x="7690104" y="5212080"/>
            <a:ext cx="3785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/ Sub-Grade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5715000"/>
            <a:ext cx="257860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571500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Date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64408" y="5715000"/>
            <a:ext cx="2980944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7" name="Text 14"/>
          <p:cNvSpPr/>
          <p:nvPr/>
        </p:nvSpPr>
        <p:spPr>
          <a:xfrm>
            <a:off x="3264408" y="5715000"/>
            <a:ext cx="2980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Amount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382512" y="5715000"/>
            <a:ext cx="2980944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9" name="Text 16"/>
          <p:cNvSpPr/>
          <p:nvPr/>
        </p:nvSpPr>
        <p:spPr>
          <a:xfrm>
            <a:off x="6382512" y="5715000"/>
            <a:ext cx="2980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6217920"/>
            <a:ext cx="257860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621792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64408" y="6217920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23" name="Text 20"/>
          <p:cNvSpPr/>
          <p:nvPr/>
        </p:nvSpPr>
        <p:spPr>
          <a:xfrm>
            <a:off x="3264408" y="62179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Amount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Data Analysis  •  Power BI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94360" cy="594360"/>
          </a:xfrm>
          <a:prstGeom prst="ellipse">
            <a:avLst/>
          </a:prstGeom>
          <a:solidFill>
            <a:srgbClr val="334593"/>
          </a:solidFill>
          <a:ln/>
        </p:spPr>
      </p:sp>
      <p:pic>
        <p:nvPicPr>
          <p:cNvPr id="4" name="Image 0" descr="icons_FFFFFF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811" y="1688211"/>
            <a:ext cx="326898" cy="3268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508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Portfolio Quality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63040" y="18745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86.2% of loans are classified as Good Loans, reflecting strong overall lending performance.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594360" cy="594360"/>
          </a:xfrm>
          <a:prstGeom prst="ellipse">
            <a:avLst/>
          </a:prstGeom>
          <a:solidFill>
            <a:srgbClr val="334593"/>
          </a:solidFill>
          <a:ln/>
        </p:spPr>
      </p:sp>
      <p:pic>
        <p:nvPicPr>
          <p:cNvPr id="8" name="Image 1" descr="icons_FFFFFF_ta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11" y="2876931"/>
            <a:ext cx="326898" cy="3268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697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Debt Consolidation Dominates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63040" y="30632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18K applications cite debt consolidation as the purpose — nearly 4x the next category.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931920"/>
            <a:ext cx="594360" cy="594360"/>
          </a:xfrm>
          <a:prstGeom prst="ellipse">
            <a:avLst/>
          </a:prstGeom>
          <a:solidFill>
            <a:srgbClr val="334593"/>
          </a:solidFill>
          <a:ln/>
        </p:spPr>
      </p:sp>
      <p:pic>
        <p:nvPicPr>
          <p:cNvPr id="12" name="Image 2" descr="icons_FFFFFF_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11" y="4065651"/>
            <a:ext cx="326898" cy="32689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886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 Loans Preferred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63040" y="4251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73.2% of borrowers choose the 36-month term over the 60-month option.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5120640"/>
            <a:ext cx="594360" cy="594360"/>
          </a:xfrm>
          <a:prstGeom prst="ellipse">
            <a:avLst/>
          </a:prstGeom>
          <a:solidFill>
            <a:srgbClr val="334593"/>
          </a:solidFill>
          <a:ln/>
        </p:spPr>
      </p:sp>
      <p:pic>
        <p:nvPicPr>
          <p:cNvPr id="16" name="Image 3" descr="icons_FFFFFF_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811" y="5254371"/>
            <a:ext cx="326898" cy="32689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5074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Growth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463040" y="5440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trended upward from 2.3K in January to 4.3K in December.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Data Analysis  •  Power BI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2743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icons_1E2761_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" y="183565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Desktop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30632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modeling, relationships &amp; report design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463040"/>
            <a:ext cx="2606040" cy="2743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Shape 6"/>
          <p:cNvSpPr/>
          <p:nvPr/>
        </p:nvSpPr>
        <p:spPr>
          <a:xfrm>
            <a:off x="3520440" y="16916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ons_1E2761_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458" y="1835658"/>
            <a:ext cx="352044" cy="3520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74720" y="30632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MTD, MoM, and derived KPI calculations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1463040"/>
            <a:ext cx="2606040" cy="2743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4" name="Shape 10"/>
          <p:cNvSpPr/>
          <p:nvPr/>
        </p:nvSpPr>
        <p:spPr>
          <a:xfrm>
            <a:off x="6263640" y="16916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ons_1E2761_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658" y="1835658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217920" y="30632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transformation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778240" y="1463040"/>
            <a:ext cx="2606040" cy="2743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9" name="Shape 14"/>
          <p:cNvSpPr/>
          <p:nvPr/>
        </p:nvSpPr>
        <p:spPr>
          <a:xfrm>
            <a:off x="9006840" y="16916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3" descr="icons_1E2761_light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0858" y="1835658"/>
            <a:ext cx="352044" cy="3520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6112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Design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961120" y="30632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for State, Grade &amp; Loan Type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4572000"/>
            <a:ext cx="1106424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18"/>
          <p:cNvSpPr/>
          <p:nvPr/>
        </p:nvSpPr>
        <p:spPr>
          <a:xfrm>
            <a:off x="914400" y="4754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91440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Data Analysis — Power BI Dashboard Project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Data Analysis  •  Power BI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2026-07-15T14:38:08Z</dcterms:created>
  <dcterms:modified xsi:type="dcterms:W3CDTF">2026-07-15T14:38:08Z</dcterms:modified>
</cp:coreProperties>
</file>